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84 minutes. Goal: every student can say what they build each week, how they are assessed, and what to install before Lab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0–8 min. Ask: what will a partner expect in week 2? Collect three answers; return to them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22–50 min: about three minutes a week. Say the measured line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22–50 min: about three minutes a week. Say the measured line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22–50 min: about three minutes a week. Say the measured line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22–50 min: about three minutes a week. Say the measured line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22–50 min: about three minutes a week. Say the measured line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22–50 min: about three minutes a week. Say the measured line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22–50 min: about three minutes a week. Say the measured line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22–50 min: about three minutes a week. Say the measured line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54–62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62–72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72–80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80–84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240280"/>
            <a:ext cx="128016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9EB4D4"/>
                </a:solidFill>
                <a:latin typeface="Calibri"/>
              </a:rPr>
              <a:t>AI IN PRACTICE 2  ·  ORIENTATION  ·  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Course,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97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C5D2E4"/>
                </a:solidFill>
                <a:latin typeface="Calibri"/>
              </a:rPr>
              <a:t>From a working system to one somebody else can run, own and trust. Eight weeks, fourteen labs, six lectures, one client.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623560"/>
            <a:ext cx="10789920" cy="12700"/>
          </a:xfrm>
          <a:prstGeom prst="rect">
            <a:avLst/>
          </a:prstGeom>
          <a:solidFill>
            <a:srgbClr val="354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77900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Subrat Panda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53328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8FA3BC"/>
                </a:solidFill>
                <a:latin typeface="Calibri"/>
              </a:rPr>
              <a:t>Plaksha University · MS in 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577900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8FA3BC"/>
                </a:solidFill>
                <a:latin typeface="Calibri"/>
              </a:rPr>
              <a:t>5 October – 27 November 2026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8FA3BC"/>
                </a:solidFill>
                <a:latin typeface="Calibri"/>
              </a:rPr>
              <a:t>2 credits · 51 contact hours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109728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 January you walk into a partner company, under an NDA, with a problem nobody has solved.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EB4D4"/>
                </a:solidFill>
                <a:latin typeface="Calibri"/>
              </a:rPr>
              <a:t>This course makes that your second time, not your first. By 27 November every team will have scoped a problem with a client, built it to a production standard, operated it, and handed it 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Where this course sits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106"/>
                <a:gridCol w="4729827"/>
                <a:gridCol w="3842985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Course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What it gives you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This course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MLEF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machine-learning 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assumes it: you receive a trained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LLM lecture course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how language models work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assumes it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AI in Practice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 measured GenAI application, Aurora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starting 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AI in Practice 2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one real system through a container, a second machine, a month of traffic, the network cable pulled, and a client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Aurora Health, continued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The insurer you already know. Module 1 built what reads and answers; this course adds what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055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What you already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99308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▪  the policy corpus, the support tickets, the golden sets; Module 1's evaluation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3822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▪  the reference Aurora service, if yours is incomplete: nobody is blocked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771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What is 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70908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▪  a claims-triage model, and 45,365 synthetic claims over 24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09820"/>
            <a:ext cx="10835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C6370"/>
                </a:solidFill>
                <a:latin typeface="Calibri"/>
              </a:rPr>
              <a:t>▪  five domain packs for the agents; nine client briefs for the 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487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Module 1's harness is the safety net: nothing is done until those numbers say it did not get worse.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The claims data has six traps. Each is a lab.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/>
                <a:gridCol w="5394960"/>
                <a:gridCol w="89916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Trap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Measured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Lab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 column known only after the decision (leakage)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AUC 0.997 with it, 0.922 without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class imbalance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14.3% rejected: "approve everything" scores 0.857 accuracy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unequal costs of the two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197 :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 feature computed two ways (skew)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recall at the operating point 0.724 → 0.609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 policy rule change (drift)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at month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 gap for Hinglish claims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recall 0.702 vs 0.579: 12.3 points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Four arcs, four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913"/>
                <a:gridCol w="1330264"/>
                <a:gridCol w="7094741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Arc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Weeks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The question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 · Ship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1–3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Can a stranger clone it, run it, deploy it and watch it?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B · Own it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Can it run with the network cable pulled?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 · Let it 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5–6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Can it take multi-step action in any domain, safely and measurably?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D · Deliver it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6–8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Can a team take a client's problem to a handover?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Week 1 · 5 Oct · A · Ship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8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477"/>
                <a:gridCol w="2916194"/>
                <a:gridCol w="6707247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Lab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What you build and prove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The model is not the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Rebuild the supplied claims model so a clean clone gives byte-identical predictions; find the leak; set the operating point in rupees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Serve it, contain it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A typed prediction service that never answers 500; a slim, non-root image; latency under load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Theory this week: T5 · What breaks between the notebook and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069080"/>
            <a:ext cx="10789920" cy="1417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069080"/>
            <a:ext cx="63500" cy="141732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B1B1F"/>
                </a:solidFill>
                <a:latin typeface="Calibri"/>
              </a:rPr>
              <a:t>The reference measured:  The supplied model's AUC 0.997 was a leak: 0.922 honest. The naive image 2.57 GB, the slim one 698 MB.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Week 2 · 12 Oct · A · Ship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8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477"/>
                <a:gridCol w="2916194"/>
                <a:gridCol w="6707247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Lab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What you build and prove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Build it with an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Spec and acceptance tests first; an agent implements; you review every diff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11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The skew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One feature, computed two ways; what it does to the decisions; a shared definition and a test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Theory this week: T6 · Engineering with AI coding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069080"/>
            <a:ext cx="10789920" cy="1417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069080"/>
            <a:ext cx="63500" cy="141732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B1B1F"/>
                </a:solidFill>
                <a:latin typeface="Calibri"/>
              </a:rPr>
              <a:t>The reference measured:  Three agents passed the same 15 tests; each had a defect the tests could not see. The skew cut recall at the operating point from 0.724 to 0.609.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Week 3 · 19 Oct · A · Ship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8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477"/>
                <a:gridCol w="2916194"/>
                <a:gridCol w="6707247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Lab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What you build and prove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Ship it continuously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CI that rebuilds the model and gates on evaluation; a canary against a baseline; a rollback drill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13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Operate it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Twelve replayed production months: traces, dashboards, drift and subgroup monitors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Theory this week: T7 · Delivery and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069080"/>
            <a:ext cx="10789920" cy="1417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069080"/>
            <a:ext cx="63500" cy="141732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B1B1F"/>
                </a:solidFill>
                <a:latin typeface="Calibri"/>
              </a:rPr>
              <a:t>The reference measured:  Rollback 6.3–6.7 s against 2 min 10 s for a revert through CI. In production the model cost ≈ ₹575 a claim against ₹500 for reviewing everything.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Week 4 · 26 Oct · B · Own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8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477"/>
                <a:gridCol w="2916194"/>
                <a:gridCol w="6707247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Lab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What you build and prove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Go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Open models sized to your laptop; your Module 1 harness, unchanged, on each; quantisation 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15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The air-gapped stack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Aurora with zero external calls, proven with a log; the quality it costs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Theory this week: T8 · Sovereign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069080"/>
            <a:ext cx="10789920" cy="1417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069080"/>
            <a:ext cx="63500" cy="141732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B1B1F"/>
                </a:solidFill>
                <a:latin typeface="Calibri"/>
              </a:rPr>
              <a:t>The reference measured:  A local model within a point of the API on extraction (0.923 vs 0.930). Sealed RAG lost on multi-hop questions (0.300 vs 0.650), and a ':cloud' model leaked through the one allowed door.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Week 5 · 2 Nov · C · Let it 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8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477"/>
                <a:gridCol w="2916194"/>
                <a:gridCol w="6707247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Lab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What you build and prove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Tools as a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Your domain pack as an MCP server, contract-tested, working from two clients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17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The domain agent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The loop by hand, then an SDK; a human before every action; five runs, two models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Theory this week: T9 · Agents and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069080"/>
            <a:ext cx="10789920" cy="1417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069080"/>
            <a:ext cx="63500" cy="141732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B1B1F"/>
                </a:solidFill>
                <a:latin typeface="Calibri"/>
              </a:rPr>
              <a:t>The reference measured:  59 of 60 calls identical across two clients. Agents: local 0.51, API 0.86 on 50 tasks; on one task the API agent recorded an ineligible patient's referral in 5 of 5 runs while its answer said “cannot be referred”.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Week 6 · 9 Nov · C → 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8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477"/>
                <a:gridCol w="2916194"/>
                <a:gridCol w="6707247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Lab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What you build and prove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Trust the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Trajectories from the server's trace; multi-tool attacks; a policy gate; local against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19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Capstone kickoff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A client brief; a scoping interview; a signed one-page scope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Theory this week: T10 · From lab to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069080"/>
            <a:ext cx="10789920" cy="1417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069080"/>
            <a:ext cx="63500" cy="141732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B1B1F"/>
                </a:solidFill>
                <a:latin typeface="Calibri"/>
              </a:rPr>
              <a:t>The reference measured:  A code gate took attacks blocked from 0.88 to 0.99 (local) and 0.71 to 0.94 (API). Tool poisoning still beat the defended API agent 10 times in 25: say which attacks got through in your report.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Week 7 · 16 Nov · D · Deliver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8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477"/>
                <a:gridCol w="2916194"/>
                <a:gridCol w="6707247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Lab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What you build and prove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Sprint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A working slice from a clean clone; the gate failing on a deliberate break; the client's change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069080"/>
            <a:ext cx="10789920" cy="1417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069080"/>
            <a:ext cx="63500" cy="141732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B1B1F"/>
                </a:solidFill>
                <a:latin typeface="Calibri"/>
              </a:rPr>
              <a:t>The reference measured:  The reference slice's first clean clone hit three bugs (a cache, a lint error, a make target that did nothing), and its gate first passed a deliberate break.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Week 8 · 23 Nov · D · Deliver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8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477"/>
                <a:gridCol w="2916194"/>
                <a:gridCol w="6707247"/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Lab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What you build and prove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Lab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Demo Day and handover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B1B1F"/>
                          </a:solidFill>
                        </a:rPr>
                        <a:t>Eight minutes, live, to a panel; what it should not be used for; the handover pack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069080"/>
            <a:ext cx="10789920" cy="14173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069080"/>
            <a:ext cx="63500" cy="141732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B1B1F"/>
                </a:solidFill>
                <a:latin typeface="Calibri"/>
              </a:rPr>
              <a:t>The reference measured:  Deciding in code, the reference slice made 0 ineligible referrals where the agents made 8 and 19 in 110 runs.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Demo Day: eight minutes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1492"/>
                <a:gridCol w="8868427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30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problem, as the client stated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 min 30 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system, running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2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 case it gets right and one it gets wrong, and why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 min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metrics, live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gate failing on a deliberate break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 min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what you would not deploy this for (graded)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How every week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106"/>
                <a:gridCol w="8572813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Before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read the lab's OVERVIEW and START_HERE; do the setup at home; skim the lecture 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The lab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 20-minute briefing (the data, how the code fits, the assignment), then three hours with the RUNSHEET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After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 short quiz (15–20 questions); the tagged commit with evidence, report and contributions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Every lab has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OVERVIEW · README · RUNSHEET · CONCEPTS · CODE_GUIDE · START_HERE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One course container, on every laptop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Everything runs in the same container on macOS, Windows and Linux, on ARM and x86: the reference produced identical Lab 8 results on both architectures. Local language models run natively (week 4 onward).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4568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Before Lab 8: Docker Desktop running; Git and a GitHub account; the Week 1 zip, then make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379621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Week 4: Ollama and your models, at home (10–30 GB by RAM); your Gemini key from Module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73397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Week 5: your team's domain pack.  Week 6: your capstone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AI coding agents: taught, then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913"/>
                <a:gridCol w="8425006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Labs 8–9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by hand: the baseline the agent lab measures against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Lab 10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spec and acceptance tests first; an agent implements; you review every diff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From Lab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allowed everywhere, with a log of what the agent wrote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Always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you must explain and defend any line you submit, live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1078991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1548"/>
                <a:gridCol w="2088371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Weight</a:t>
                      </a:r>
                    </a:p>
                  </a:txBody>
                  <a:tcPr>
                    <a:solidFill>
                      <a:srgbClr val="14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Labs 8–18 (4% each)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Capstone scoping document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6%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Capstone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Capstone report and Demo Day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Engineering practice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1B1F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C6370"/>
                </a:solidFill>
                <a:latin typeface="Calibri"/>
              </a:rPr>
              <a:t>No number, no claim. Honest negative results score full marks; fabricated numbers score zero. Teams of three, fixed; a signed contribution statement with every deliverable.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What you walk out with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a trained model in production: versioned, containerised, CI/CD'd, deployed, observed, drift-gated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055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the whole stack running fully offline on open models, with its measured quality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930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an MCP server and an evaluated, attacked, defended domain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930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a team project delivered to a client brief, with a handover 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868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a measured way of working with AI coding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42A4A"/>
                </a:solidFill>
                <a:latin typeface="Calibri"/>
              </a:rPr>
              <a:t>Before Lab 8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43000"/>
            <a:ext cx="10789920" cy="19050"/>
          </a:xfrm>
          <a:prstGeom prst="rect">
            <a:avLst/>
          </a:prstGeom>
          <a:solidFill>
            <a:srgbClr val="D5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Install Docker Desktop and Git; make up from the Week 1 zip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6537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Form your team of three (fixed for the course)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915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Read Lab 8's OVERVIEW and START_HERE, docs/THE_STORY.md; skim T5's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529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New to git, DVC or Docker? The primers in docs/toolkit/ (git-and-github, shell, dvc-and-mlflow first)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868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>
                <a:solidFill>
                  <a:srgbClr val="1B1B1F"/>
                </a:solidFill>
                <a:latin typeface="Calibri"/>
              </a:rPr>
              <a:t>•  Bring a charged laptop with the container built, and your Module 1 repository (or use the reference)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A8AFBA"/>
                </a:solidFill>
                <a:latin typeface="Calibri"/>
              </a:rPr>
              <a:t>AI in Practice 2  ·  Subrat Panda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109728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577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EB4D4"/>
                </a:solidFill>
                <a:latin typeface="Calibri"/>
              </a:rPr>
              <a:t>Then: the three answers from the start. What will a partner expect in week 2 of January?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