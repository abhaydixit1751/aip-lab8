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number in this deck was measured on the course's own claims model in the course container. Say so early; they reproduce most of them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who has received a handover like this? Who has sent one?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0–8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8's A1 inventory; ask the room to predict each right-hand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8–22 min. The longest section: Lab 8 lives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Cause (withhold if you want Lab 8 A2 to find it): early stopping turns itself on above 10,000 rows and draws a random 10% validation split; the script sets no seed.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 runs on the previous slide are metric-identical and not decision-identical.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Vote on each row before revealing. Most rooms get row order and category order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Platform builds of the numerical wheels differ: compiler, OpenMP runtime, libm.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22–35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 carries which version; DVC carries the bytes; MLflow remembers what you tried; the container pins everything else. DVC: what produced the model in this commit (what you ship). MLflow: what did we try this week (what you explored).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Block style, one item per line, and never -q while debugging.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empty-fingerprint story is true, from building the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35–45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 to guess the top feature before showing the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name the skewed feature. Lab 11 is a discovery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45–58 min. Protect this section's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which way the threshold moves from 0.5, and how far. Nobody guesses 0.018. In the HTML deck, slide 20 is a live threshold slider over the measured cost curve.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Holdout months 12–13, 3,796 claims, honest model. At 0.020 the cost is already above ₹500: the optimum is a narrow 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who can say '₹466, 95% interval ₹435–510' in an interview are rare.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58–68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responses from the reference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Kubernetes adds a startup probe for exactly the slow-load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68–78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Dwell on COPY . . and the claims data. Who is accountable if that image reaches a public registry?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Deleting in a later layer does not shrink the image: the course image's first draft ran chown -R in its own layer, +977 MB.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78–85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uvicorn worker, closed-loop, measured from inside the course container.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Teams of three are fixed for the course. Contribution statements with every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2240280"/>
            <a:ext cx="128016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9EB4D4"/>
                </a:solidFill>
                <a:latin typeface="Calibri"/>
              </a:rPr>
              <a:t>AI IN PRACTICE 2  ·  THEORY 5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6032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What breaks between the notebook and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2976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C5D2E4"/>
                </a:solidFill>
                <a:latin typeface="Calibri"/>
              </a:rPr>
              <a:t>One ordinary model, handed over the ordinary way, and everything that stops it being a product: rebuilding it, trusting it, pricing it, serving it, shipping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623560"/>
            <a:ext cx="10789920" cy="12700"/>
          </a:xfrm>
          <a:prstGeom prst="rect">
            <a:avLst/>
          </a:prstGeom>
          <a:solidFill>
            <a:srgbClr val="354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779008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Subrat Panda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053328"/>
            <a:ext cx="6400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8FA3BC"/>
                </a:solidFill>
                <a:latin typeface="Calibri"/>
              </a:rPr>
              <a:t>Plaksha University · MS in Artificial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5779008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8FA3BC"/>
                </a:solidFill>
                <a:latin typeface="Calibri"/>
              </a:rPr>
              <a:t>90 minutes</a:t>
            </a:r>
          </a:p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8FA3BC"/>
                </a:solidFill>
                <a:latin typeface="Calibri"/>
              </a:rPr>
              <a:t>Prepares you for Labs 8 and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Monday morning: the handover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1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3505"/>
                <a:gridCol w="7616414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File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What it is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train_model.py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"exported from the notebook"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requirements.txt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four package names, no versions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model.pkl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the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MODEL_CARD.md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accuracy 0.981 · AUC 0.997 · "ready for production"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989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C6370"/>
                </a:solidFill>
                <a:latin typeface="Calibri"/>
              </a:rPr>
              <a:t>By the end of this session: it cannot be rebuilt, it is cheating, and at its default threshold it costs more than having no model at 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000" b="1">
                <a:solidFill>
                  <a:srgbClr val="C9D1DB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142A4A"/>
                </a:solidFill>
                <a:latin typeface="Calibri"/>
              </a:rPr>
              <a:t>The artefact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389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5C6370"/>
                </a:solidFill>
                <a:latin typeface="Calibri"/>
              </a:rPr>
              <a:t>What exactly was handed over, and what would you need to make it again?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A model is four things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1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4984"/>
                <a:gridCol w="4149969"/>
                <a:gridCol w="4564966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Part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What it is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How the handover versioned it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the training script and preprocessing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a notebook export, no seed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Data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the exact rows it was trained on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a relative path: no hash, no date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Weights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the fitted parameters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a pickle with no record of what produced 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Environment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Python, libraries, OS, maths libraries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four unpinned package names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989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C6370"/>
                </a:solidFill>
                <a:latin typeface="Calibri"/>
              </a:rPr>
              <a:t>Change any one and you may get a different model. Hidden technical debt (Sculley et al., 2015) lives in the diagram around the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000" b="1">
                <a:solidFill>
                  <a:srgbClr val="C9D1DB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142A4A"/>
                </a:solidFill>
                <a:latin typeface="Calibri"/>
              </a:rPr>
              <a:t>Reproducibility is a testable property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389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5C6370"/>
                </a:solidFill>
                <a:latin typeface="Calibri"/>
              </a:rPr>
              <a:t>Not an adjective of approval. A property with a test, and three possible answers.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Same script, same data, three builds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18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9605"/>
                <a:gridCol w="1926771"/>
                <a:gridCol w="1926771"/>
                <a:gridCol w="1926771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run 1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run 2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run 3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0.9974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0.9974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0.9976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trees built (n_iter)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91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105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79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decisions that differ per pair (of 45,365)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244–299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customers a day, at 2,000 claims/day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≈ 12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989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C6370"/>
                </a:solidFill>
                <a:latin typeface="Calibri"/>
              </a:rPr>
              <a:t>The AUCs agree to three decimals. The decisions do not. Nobody changed anything.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Three levels of "the same model"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19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9491"/>
                <a:gridCol w="4598982"/>
                <a:gridCol w="3891446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Level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Means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Checked by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Bit-identical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every probability, for every input, is the same float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SHA-256 of the predictions: the fingerprint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Decision-identical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probabilities differ; no decision changes at the thresholds in use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counting flips per threshold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Metric-identical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the headline metric matches to a few decimals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comparing numbers: weakest, most claimed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989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C6370"/>
                </a:solidFill>
                <a:latin typeface="Calibri"/>
              </a:rPr>
              <a:t>CI wants bit-identical. An auditor needs decision-identical at the deployed threshold. "Reproducible" alone means nothing: say which level.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Where nondeterminism hides, measured on this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2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6976"/>
                <a:gridCol w="1438656"/>
                <a:gridCol w="6114288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Suspect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Bites?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Measured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No seed + early stopping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240–300 of 45,365 decisions differ between builds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Row order, seed set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shuffled file: 6,554 decisions differ at the operating threshold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Thread 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1, 4, default: bit-identical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Category order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inferred, explicit, reversed: 0 probabilities differ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Python 3.12.11 vs 3.12.14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bit-identical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ARM vs x86 (Linux)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bit-identical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macOS vs Linux, same pins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last bits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58 probabilities differ by ≤ 5.6e-17; 0 decisions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989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C6370"/>
                </a:solidFill>
                <a:latin typeface="Calibri"/>
              </a:rPr>
              <a:t>A seed is necessary, not sufficient. Test the trap before you fix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1920240"/>
            <a:ext cx="109728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37744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Same pins, same seed, same data.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macOS and Linux differ in the 17th decimal place.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Linux on ARM and on x86 agree bit for bit.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5778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9EB4D4"/>
                </a:solidFill>
                <a:latin typeface="Calibri"/>
              </a:rPr>
              <a:t>The dividing line is the operating system, not the CPU. That is why every laptop in this course runs the same Linux image.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000" b="1">
                <a:solidFill>
                  <a:srgbClr val="C9D1DB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142A4A"/>
                </a:solidFill>
                <a:latin typeface="Calibri"/>
              </a:rPr>
              <a:t>Versioning code, data and experiments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389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5C6370"/>
                </a:solidFill>
                <a:latin typeface="Calibri"/>
              </a:rPr>
              <a:t>Four parts of the artefact, and a different tool for each.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42A4A"/>
                </a:solidFill>
                <a:latin typeface="Calibri"/>
              </a:rPr>
              <a:t>Who versions what</a:t>
            </a:r>
          </a:p>
        </p:txBody>
      </p:sp>
      <p:pic>
        <p:nvPicPr>
          <p:cNvPr id="3" name="Picture 2" descr="ver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60120"/>
            <a:ext cx="10789920" cy="48131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A pipeline is a declaration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0789920" cy="351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3519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1B1B1F"/>
                </a:solidFill>
                <a:latin typeface="Consolas"/>
              </a:rPr>
              <a:t>stages: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1B1B1F"/>
                </a:solidFill>
                <a:latin typeface="Consolas"/>
              </a:rPr>
              <a:t>  train: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1B1B1F"/>
                </a:solidFill>
                <a:latin typeface="Consolas"/>
              </a:rPr>
              <a:t>    cmd: python labs/lab08/train.py --params labs/lab08/params.yaml --out artifacts/lab08 --no-mlflow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1B1B1F"/>
                </a:solidFill>
                <a:latin typeface="Consolas"/>
              </a:rPr>
              <a:t>    deps: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1B1B1F"/>
                </a:solidFill>
                <a:latin typeface="Consolas"/>
              </a:rPr>
              <a:t>      - data/claims/claims.parquet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1B1B1F"/>
                </a:solidFill>
                <a:latin typeface="Consolas"/>
              </a:rPr>
              <a:t>      - labs/lab08/train.py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1B1B1F"/>
                </a:solidFill>
                <a:latin typeface="Consolas"/>
              </a:rPr>
              <a:t>    params: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1B1B1F"/>
                </a:solidFill>
                <a:latin typeface="Consolas"/>
              </a:rPr>
              <a:t>      - labs/lab08/params.yaml: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1B1B1F"/>
                </a:solidFill>
                <a:latin typeface="Consolas"/>
              </a:rPr>
              <a:t>    outs: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1B1B1F"/>
                </a:solidFill>
                <a:latin typeface="Consolas"/>
              </a:rPr>
              <a:t>      - artifacts/lab08/model.joblib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1B1B1F"/>
                </a:solidFill>
                <a:latin typeface="Consolas"/>
              </a:rPr>
              <a:t>      - artifacts/lab08/predictions.parquet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1B1B1F"/>
                </a:solidFill>
                <a:latin typeface="Consolas"/>
              </a:rPr>
              <a:t>    metrics: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1B1B1F"/>
                </a:solidFill>
                <a:latin typeface="Consolas"/>
              </a:rPr>
              <a:t>      - artifacts/lab08/metrics.json: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1B1B1F"/>
                </a:solidFill>
                <a:latin typeface="Consolas"/>
              </a:rPr>
              <a:t>          cache: false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989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C6370"/>
                </a:solidFill>
                <a:latin typeface="Calibri"/>
              </a:rPr>
              <a:t>The trap, measured: in flow style, params: [labs/lab08/params.yaml:] is read as a parameter named that inside ./params.yaml. Under dvc repro -q it failed with no output at 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The test: a clean clone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1B1B1F"/>
                </a:solidFill>
                <a:latin typeface="Calibri"/>
              </a:rPr>
              <a:t>•  git clone → dvc pull → dvc repro --force → compare fingerprints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65376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1B1B1F"/>
                </a:solidFill>
                <a:latin typeface="Calibri"/>
              </a:rPr>
              <a:t>•  Reference: BIT-IDENTICAL, about 5 seconds from clone to verdict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5915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1B1B1F"/>
                </a:solidFill>
                <a:latin typeface="Calibri"/>
              </a:rPr>
              <a:t>•  The clone knows only what was committed and pushed: everything you forgot shows up as a failure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9308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1B1B1F"/>
                </a:solidFill>
                <a:latin typeface="Calibri"/>
              </a:rPr>
              <a:t>•  A check that can pass on nothing is worse than no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86860"/>
            <a:ext cx="10835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5C6370"/>
                </a:solidFill>
                <a:latin typeface="Calibri"/>
              </a:rPr>
              <a:t>▪  The first version compared two EMPTY fingerprints (training had crashed) and printed "bit-identical"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465928"/>
            <a:ext cx="10835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5C6370"/>
                </a:solidFill>
                <a:latin typeface="Calibri"/>
              </a:rPr>
              <a:t>▪  The version students get refuses missing, empty, malformed and stale fingerprints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000" b="1">
                <a:solidFill>
                  <a:srgbClr val="C9D1DB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142A4A"/>
                </a:solidFill>
                <a:latin typeface="Calibri"/>
              </a:rPr>
              <a:t>What the model may know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389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5C6370"/>
                </a:solidFill>
                <a:latin typeface="Calibri"/>
              </a:rPr>
              <a:t>Leakage, and its quieter sibling.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AUC 0.997 is a symptom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3280"/>
                <a:gridCol w="359664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Feature (supplied model)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AUC drop when shuffled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assessor_note_length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0.4328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policy_tenure_months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0.0066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diagnosis_group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0.0059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hospital_network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0.0006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claim_amount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0.0003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989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C6370"/>
                </a:solidFill>
                <a:latin typeface="Calibri"/>
              </a:rPr>
              <a:t>Evidence is not proof. The deciding question is about time: who writes the assessor's note, and when? (While deciding the claim.) Leak removed: AUC 0.9218.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Its quieter sibling: training–serving skew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1B1B1F"/>
                </a:solidFill>
                <a:latin typeface="Calibri"/>
              </a:rPr>
              <a:t>•  Leakage: the feature does not exist at decision time. Signature: a score too good for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055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1B1B1F"/>
                </a:solidFill>
                <a:latin typeface="Calibri"/>
              </a:rPr>
              <a:t>•  Skew: the feature exists but is computed differently when serving: another window, join or default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39464"/>
            <a:ext cx="10835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5C6370"/>
                </a:solidFill>
                <a:latin typeface="Calibri"/>
              </a:rPr>
              <a:t>▪  Invisible offline, because offline both sides use the training computation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478376"/>
            <a:ext cx="10835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5C6370"/>
                </a:solidFill>
                <a:latin typeface="Calibri"/>
              </a:rPr>
              <a:t>▪  Costs you at the operating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91728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1B1B1F"/>
                </a:solidFill>
                <a:latin typeface="Calibri"/>
              </a:rPr>
              <a:t>•  Both are one question: what does the model actually know at the moment it decides?  (Lab 11)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000" b="1">
                <a:solidFill>
                  <a:srgbClr val="C9D1DB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142A4A"/>
                </a:solidFill>
                <a:latin typeface="Calibri"/>
              </a:rPr>
              <a:t>The prediction as a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389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5C6370"/>
                </a:solidFill>
                <a:latin typeface="Calibri"/>
              </a:rPr>
              <a:t>A classifier outputs a probability. A business needs a decision. The threshold is where the money is.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Price the errors first: 197 : 1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19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9975"/>
                <a:gridCol w="3734972"/>
                <a:gridCol w="3734972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Model says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Truth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Cost to Aurora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auto-approve (p &lt; 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claim was fine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₹0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auto-approve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should have been rejected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its amount: mean ₹98,482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send to an assessor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either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₹500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989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C6370"/>
                </a:solidFill>
                <a:latin typeface="Calibri"/>
              </a:rPr>
              <a:t>Accuracy and F1 weigh both errors equally: they optimise a different business (Elkan, 2001).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The table that ends the argument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6220"/>
                <a:gridCol w="1685925"/>
                <a:gridCol w="1685925"/>
                <a:gridCol w="1685925"/>
                <a:gridCol w="1685925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Policy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Threshold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₹ / claim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Automated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Bad paid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Review everything (no model)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0.5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6,451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88.3%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248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F1-optimal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0.225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3,771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84.4%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158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Cost-optimal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0.018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466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14.0%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989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C6370"/>
                </a:solidFill>
                <a:latin typeface="Calibri"/>
              </a:rPr>
              <a:t>Default: 12.9× the cost of no model. F1's choice: an extra ₹241 crore a year. Cost-optimal: saves ₹2.45 crore a year, automating 14%.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How sure are you?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1B1B1F"/>
                </a:solidFill>
                <a:latin typeface="Calibri"/>
              </a:rPr>
              <a:t>•  At the cost-optimal threshold, 4 bad claims are paid on the holdout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65376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1B1B1F"/>
                </a:solidFill>
                <a:latin typeface="Calibri"/>
              </a:rPr>
              <a:t>•  The whole ₹34-a-claim margin over reviewing everything rests on a handful of events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5915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1B1B1F"/>
                </a:solidFill>
                <a:latin typeface="Calibri"/>
              </a:rPr>
              <a:t>•  Bootstrap, 1,000 resamples, ₹/claim at t = 0.018: ₹435–510 (95%); beats review-everything in 95.0%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9308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1B1B1F"/>
                </a:solidFill>
                <a:latin typeface="Calibri"/>
              </a:rPr>
              <a:t>•  The recommendation survives, with that caveat stated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868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1B1B1F"/>
                </a:solidFill>
                <a:latin typeface="Calibri"/>
              </a:rPr>
              <a:t>•  The threshold is part of the model: in Lab 9 it travels in a bundle with the model and its fingerprint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000" b="1">
                <a:solidFill>
                  <a:srgbClr val="C9D1DB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142A4A"/>
                </a:solidFill>
                <a:latin typeface="Calibri"/>
              </a:rPr>
              <a:t>Serving: the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389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5C6370"/>
                </a:solidFill>
                <a:latin typeface="Calibri"/>
              </a:rPr>
              <a:t>What the service accepts, what it refuses, and how it says so.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Send this request. What comes 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19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6976"/>
                <a:gridCol w="1258823"/>
                <a:gridCol w="629412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Request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Pydantic says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valid claim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decision, threshold 0.018, model_version claims-triage-f39f014c5581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plan = "diamond"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422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Input should be 'bronze', 'silver', 'gold' or 'platinum'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claim_amount = -100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422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Input should be greater than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sum_insured = "five lakh"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422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unable to parse string as an integer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claim_to_si_ratio = 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422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Input should be less than or equal to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assessor_note_length sent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422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Extra inputs are not permitted  (extra="forbid")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989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C6370"/>
                </a:solidFill>
                <a:latin typeface="Calibri"/>
              </a:rPr>
              <a:t>422: your request is wrong, do not retry. 500: we broke, retry. A malformed request that returns 500 becomes a retry storm.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Liveness is not readiness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2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Endpoint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Question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On failure, an orchestrator…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/health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is the process alive?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restarts 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/ready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can it answer correctly now?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stops sending traffic, and waits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989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C6370"/>
                </a:solidFill>
                <a:latin typeface="Calibri"/>
              </a:rPr>
              <a:t>Conflate them: a slow model load gets the container killed in a loop, or traffic arrives before the model. Load once, at startup (≈ 0.5 s here).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000" b="1">
                <a:solidFill>
                  <a:srgbClr val="C9D1DB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142A4A"/>
                </a:solidFill>
                <a:latin typeface="Calibri"/>
              </a:rPr>
              <a:t>Containers: what an image guarantees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389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5C6370"/>
                </a:solidFill>
                <a:latin typeface="Calibri"/>
              </a:rPr>
              <a:t>And the five decisions that make an image someone else can trust.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A colleague's first Dockerfile, line by 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19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4495"/>
                <a:gridCol w="4176743"/>
                <a:gridCol w="3828681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Line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Measured problem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Instead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FROM python:3.12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a compiler toolchain you never 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python:3.12-slim, multi-stage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COPY . .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git history, DVC cache, the customers' claims data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allowlist ignore file: context 320 B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RUN pip install … (unpinned)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scikit-learn matches the pickle by luck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uv sync --frozen, serving deps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CMD as root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compromise = root in the container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USER app (uid 10001)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no HEALTHCHECK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'running' before the model loads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1B1F"/>
                          </a:solidFill>
                        </a:rPr>
                        <a:t>HEALTHCHECK on /ready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989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C6370"/>
                </a:solidFill>
                <a:latin typeface="Calibri"/>
              </a:rPr>
              <a:t>Naive: 2.57 GB, root. Five decisions later: 698 MB, uid 10001, healthy, ready 1.3 s after docker run.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What an image guarantees, and what it does 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539496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Guaranteed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Not guaranteed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the same files, libraries, OS userland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the kernel: it is the host's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the same model bits on ARM and x86 (measured)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the same image digest when rebuilt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the versions resolved at build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that they were right, unless a lockfile pinned them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speed, and a GPU on macOS (week 4)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989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C6370"/>
                </a:solidFill>
                <a:latin typeface="Calibri"/>
              </a:rPr>
              <a:t>A teammate's rebuild: different digest, same fingerprint. The fingerprint answers "which model is running?"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000" b="1">
                <a:solidFill>
                  <a:srgbClr val="C9D1DB"/>
                </a:solidFill>
                <a:latin typeface="Calibr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142A4A"/>
                </a:solidFill>
                <a:latin typeface="Calibri"/>
              </a:rPr>
              <a:t>Load, latency and batching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389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5C6370"/>
                </a:solidFill>
                <a:latin typeface="Calibri"/>
              </a:rPr>
              <a:t>"Is it fast?" has no answer. "How many, at what p95, against how much traffic?" does.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The knee, and Little's law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1798320"/>
                <a:gridCol w="1798320"/>
                <a:gridCol w="1798320"/>
                <a:gridCol w="17983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Mode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Claims/s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p50 ms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p95 ms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Mean ms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1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60.8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14.7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29.3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16.4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8 clients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81.3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96.7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114.1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98.2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32 clients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114.1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279.5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331.9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279.8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batch of 50, 4 clients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2,987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66.4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74.0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66.9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989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C6370"/>
                </a:solidFill>
                <a:latin typeface="Calibri"/>
              </a:rPr>
              <a:t>Little's law: 32 clients ÷ 114 req/s = 0.28 s, the measured mean. Batching: 26× the throughput at lower p95. Size to the workload: 2,000 claims/day = 0.023/s; a day's volume in 33 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This week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1B1B1F"/>
                </a:solidFill>
                <a:latin typeface="Calibri"/>
              </a:rPr>
              <a:t>•  Lab 8 · The model is not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65376"/>
            <a:ext cx="10835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5C6370"/>
                </a:solidFill>
                <a:latin typeface="Calibri"/>
              </a:rPr>
              <a:t>▪  Rebuild and measure the disagreement · find the leak (evidence and timing)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04288"/>
            <a:ext cx="10835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5C6370"/>
                </a:solidFill>
                <a:latin typeface="Calibri"/>
              </a:rPr>
              <a:t>▪  Bit-identical across runs, threads, row order, a clean clone, a teammate's laptop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10835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5C6370"/>
                </a:solidFill>
                <a:latin typeface="Calibri"/>
              </a:rPr>
              <a:t>▪  The operating point in rupees, with its uncertainty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8211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1B1B1F"/>
                </a:solidFill>
                <a:latin typeface="Calibri"/>
              </a:rPr>
              <a:t>•  Lab 9 · Serve it, contain it  (by hand: no coding agents)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75888"/>
            <a:ext cx="10835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5C6370"/>
                </a:solidFill>
                <a:latin typeface="Calibri"/>
              </a:rPr>
              <a:t>▪  A contract with 15 tests · naive vs slim image · cold start · a load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14800"/>
            <a:ext cx="10835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5C6370"/>
                </a:solidFill>
                <a:latin typeface="Calibri"/>
              </a:rPr>
              <a:t>▪  A teammate rebuilds it and serves the same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55371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1B1B1F"/>
                </a:solidFill>
                <a:latin typeface="Calibri"/>
              </a:rPr>
              <a:t>•  Before Monday: START_HERE_LAB8.md. Before Wednesday: pull the base images at home.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Reading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841248" cy="237744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44752"/>
            <a:ext cx="8412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PAPER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380744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1B1B1F"/>
                </a:solidFill>
                <a:latin typeface="Calibri"/>
              </a:rPr>
              <a:t>Sculley et al. (2015), Hidden Technical Debt in Machine Learning Systems, NeurIPS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655064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C6370"/>
                </a:solidFill>
                <a:latin typeface="Calibri"/>
              </a:rPr>
              <a:t>The diagram behind §1.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075688"/>
            <a:ext cx="841248" cy="237744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8412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PAPER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39112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1B1B1F"/>
                </a:solidFill>
                <a:latin typeface="Calibri"/>
              </a:rPr>
              <a:t>Breck et al. (2017), The ML Test Score, IEEE Big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313432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C6370"/>
                </a:solidFill>
                <a:latin typeface="Calibri"/>
              </a:rPr>
              <a:t>A rubric to hold Labs 8–13 against.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734056"/>
            <a:ext cx="841248" cy="237744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61488"/>
            <a:ext cx="8412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PAPER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697480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1B1B1F"/>
                </a:solidFill>
                <a:latin typeface="Calibri"/>
              </a:rPr>
              <a:t>Kaufman et al. (2012), Leakage in Data Mining, ACM TKDD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971800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C6370"/>
                </a:solidFill>
                <a:latin typeface="Calibri"/>
              </a:rPr>
              <a:t>§2–3: the taxonomy of leaks.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392424"/>
            <a:ext cx="841248" cy="237744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419856"/>
            <a:ext cx="8412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PAPER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355848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1B1B1F"/>
                </a:solidFill>
                <a:latin typeface="Calibri"/>
              </a:rPr>
              <a:t>Elkan (2001), The Foundations of Cost-Sensitive Learning, IJCAI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630168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C6370"/>
                </a:solidFill>
                <a:latin typeface="Calibri"/>
              </a:rPr>
              <a:t>Why the threshold follows from the cost matrix.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050792"/>
            <a:ext cx="841248" cy="237744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078224"/>
            <a:ext cx="8412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PAPER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014216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1B1B1F"/>
                </a:solidFill>
                <a:latin typeface="Calibri"/>
              </a:rPr>
              <a:t>Dean &amp; Barroso (2013), The Tail at Scale, CACM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288536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C6370"/>
                </a:solidFill>
                <a:latin typeface="Calibri"/>
              </a:rPr>
              <a:t>Why p99, not the mean.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709160"/>
            <a:ext cx="841248" cy="237744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736592"/>
            <a:ext cx="8412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DOCS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672584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1B1B1F"/>
                </a:solidFill>
                <a:latin typeface="Calibri"/>
              </a:rPr>
              <a:t>scikit-learn HistGradientBoostingClassifier · DVC pipelines · MLflow Tracking · Docker multi-stage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4946904"/>
            <a:ext cx="9784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C6370"/>
                </a:solidFill>
                <a:latin typeface="Calibri"/>
              </a:rPr>
              <a:t>The reference pages for Labs 8–9.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