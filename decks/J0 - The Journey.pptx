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60 minutes, three acts: the call, the journey, the return.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HTML deck has this as an interactive map with a week slider.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2240280"/>
            <a:ext cx="128016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9EB4D4"/>
                </a:solidFill>
                <a:latin typeface="Calibri"/>
              </a:rPr>
              <a:t>AI IN PRACTICE 2  ·  MODULE 2  ·  THE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6032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From a Notebook to a Partner's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2976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C5D2E4"/>
                </a:solidFill>
                <a:latin typeface="Calibri"/>
              </a:rPr>
              <a:t>Eight weeks. Fourteen labs. The unknowns become the things you do without thinking.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623560"/>
            <a:ext cx="10789920" cy="12700"/>
          </a:xfrm>
          <a:prstGeom prst="rect">
            <a:avLst/>
          </a:prstGeom>
          <a:solidFill>
            <a:srgbClr val="354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779008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Subrat Panda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053328"/>
            <a:ext cx="6400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8FA3BC"/>
                </a:solidFill>
                <a:latin typeface="Calibri"/>
              </a:rPr>
              <a:t>Plaksha University · MS in Artificial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5779008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8FA3BC"/>
                </a:solidFill>
                <a:latin typeface="Calibri"/>
              </a:rPr>
              <a:t>5 October – 27 November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920240"/>
            <a:ext cx="109728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37744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January. A partner. An NDA. A problem in two sentences.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5778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9EB4D4"/>
                </a:solidFill>
                <a:latin typeface="Calibri"/>
              </a:rPr>
              <a:t>Nobody has solved it. The data may not leave the building.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What a partner will expect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2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38404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1B1F"/>
                          </a:solidFill>
                        </a:rPr>
                        <a:t>1 · A signed 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1B1F"/>
                          </a:solidFill>
                        </a:rPr>
                        <a:t>2 · A working slice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1B1F"/>
                          </a:solidFill>
                        </a:rPr>
                        <a:t>3 · Numbers, not adjectives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1B1F"/>
                          </a:solidFill>
                        </a:rPr>
                        <a:t>4 · Their data rules, proven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1B1F"/>
                          </a:solidFill>
                        </a:rPr>
                        <a:t>5 · Bad news early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1B1F"/>
                          </a:solidFill>
                        </a:rPr>
                        <a:t>6 · It runs after you leave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1B1F"/>
                          </a:solidFill>
                        </a:rPr>
                        <a:t>7 · What it must not do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1B1F"/>
                          </a:solidFill>
                        </a:rPr>
                        <a:t>None is about the model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42A4A"/>
                </a:solidFill>
                <a:latin typeface="Calibri"/>
              </a:rPr>
              <a:t>Module 1: you built Aurora</a:t>
            </a:r>
          </a:p>
        </p:txBody>
      </p:sp>
      <p:pic>
        <p:nvPicPr>
          <p:cNvPr id="3" name="Picture 2" descr="m1_re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60120"/>
            <a:ext cx="10789920" cy="34908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6126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C6370"/>
                </a:solidFill>
                <a:latin typeface="Calibri"/>
              </a:rPr>
              <a:t>Module 1 made it work. Module 2 makes it survive: a stranger's laptop, production, a sealed building, an attacker, a client.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Who asks: further away, every arc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20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38404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Labs 8–13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Labs 14–15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Labs 16–18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Labs 19–21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B1B1F"/>
                          </a:solidFill>
                        </a:rPr>
                        <a:t>a colleague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B1B1F"/>
                          </a:solidFill>
                        </a:rPr>
                        <a:t>another company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B1B1F"/>
                          </a:solidFill>
                        </a:rPr>
                        <a:t>a partner, another industry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B1B1F"/>
                          </a:solidFill>
                        </a:rPr>
                        <a:t>your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C6370"/>
                </a:solidFill>
                <a:latin typeface="Calibri"/>
              </a:rPr>
              <a:t>Less knowledge of your system. Less trust by default. More you must prove.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From unknown to known: 35 skills, week by week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18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2456"/>
                <a:gridCol w="739035"/>
                <a:gridCol w="8868427"/>
              </a:tblGrid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Week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New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Becomes known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B1B1F"/>
                          </a:solidFill>
                        </a:rPr>
                        <a:t>Week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B1B1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B1B1F"/>
                          </a:solidFill>
                        </a:rPr>
                        <a:t>Git with a team: pull, conflicts, tags; One reproducible environment (containers); Rebuild a model from a clean clone; Version data and pipelines (DVC); Track experiments (MLflow); Find leakage with evidence; Choose a threshold in rupees; A typed API contract; Write a production Dockerfile; Measure latency and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B1B1F"/>
                          </a:solidFill>
                        </a:rPr>
                        <a:t>Week 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B1B1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B1B1F"/>
                          </a:solidFill>
                        </a:rPr>
                        <a:t>Work with AI coding agents, spec first; Write tests that define done; Training–serving skew; Uncertainty: the bootstrap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B1B1F"/>
                          </a:solidFill>
                        </a:rPr>
                        <a:t>Week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B1B1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B1B1F"/>
                          </a:solidFill>
                        </a:rPr>
                        <a:t>CI that rebuilds and gates the model; Canary releases and rollback; Observability: traces, metrics, dashboards; Drift, calibration and subgroup monitors; A decision in rupees, even a negative 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B1B1F"/>
                          </a:solidFill>
                        </a:rPr>
                        <a:t>Week 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B1B1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B1B1F"/>
                          </a:solidFill>
                        </a:rPr>
                        <a:t>Run open models on your own hardware; Size memory, context and quantisation; Run a system sealed from the internet; Price the quality you give up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B1B1F"/>
                          </a:solidFill>
                        </a:rPr>
                        <a:t>Week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B1B1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B1B1F"/>
                          </a:solidFill>
                        </a:rPr>
                        <a:t>Publish tools as a standard (MCP); Build an agent loop, by hand and with an SDK; Humans at the gate; Evaluate agents: success, cost, variance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B1B1F"/>
                          </a:solidFill>
                        </a:rPr>
                        <a:t>Week 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B1B1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B1B1F"/>
                          </a:solidFill>
                        </a:rPr>
                        <a:t>Read what the agent actually did; Attack an agent through its tools; Defend the action, in code; Scope a vague ask into a signed page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B1B1F"/>
                          </a:solidFill>
                        </a:rPr>
                        <a:t>Week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B1B1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B1B1F"/>
                          </a:solidFill>
                        </a:rPr>
                        <a:t>A working slice from a clean clone; Answer a change request with a 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B1B1F"/>
                          </a:solidFill>
                        </a:rPr>
                        <a:t>Week 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B1B1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B1B1F"/>
                          </a:solidFill>
                        </a:rPr>
                        <a:t>Demo under pressure, limits included; Hand it over: runbook, ADRs, on-call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The prerequisites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394960"/>
              </a:tblGrid>
              <a:tr h="38404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You bring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Nobody has taught you yet, so we will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Python, virtual environments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git with a team, DVC, MLflow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ML evaluation (MLEF)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Docker, make, writing tests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LLMs, RAG, tools (concepts)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GitHub Actions, Ollama, MCP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Aurora (Module 1)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one short primer each, in docs/toolkit/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The toolkit: read before the lab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2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8991600"/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Before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Primer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B1F"/>
                          </a:solidFill>
                        </a:rPr>
                        <a:t>Lab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B1F"/>
                          </a:solidFill>
                        </a:rPr>
                        <a:t>git &amp; GitHub · shell · DVC &amp; MLflow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B1F"/>
                          </a:solidFill>
                        </a:rPr>
                        <a:t>Lab 9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B1F"/>
                          </a:solidFill>
                        </a:rPr>
                        <a:t>Docker, compose, make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B1F"/>
                          </a:solidFill>
                        </a:rPr>
                        <a:t>Lab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B1F"/>
                          </a:solidFill>
                        </a:rPr>
                        <a:t>pytest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B1F"/>
                          </a:solidFill>
                        </a:rPr>
                        <a:t>Lab 11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B1F"/>
                          </a:solidFill>
                        </a:rPr>
                        <a:t>statistics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B1F"/>
                          </a:solidFill>
                        </a:rPr>
                        <a:t>Lab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B1F"/>
                          </a:solidFill>
                        </a:rPr>
                        <a:t>YAML &amp; GitHub 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B1F"/>
                          </a:solidFill>
                        </a:rPr>
                        <a:t>Lab 14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B1F"/>
                          </a:solidFill>
                        </a:rPr>
                        <a:t>Ollama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B1F"/>
                          </a:solidFill>
                        </a:rPr>
                        <a:t>Lab 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B1F"/>
                          </a:solidFill>
                        </a:rPr>
                        <a:t>async &amp; MCP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B1F"/>
                          </a:solidFill>
                        </a:rPr>
                        <a:t>Lab 19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B1F"/>
                          </a:solidFill>
                        </a:rPr>
                        <a:t>capstone toolchain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Four arcs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1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9981"/>
                <a:gridCol w="8299938"/>
              </a:tblGrid>
              <a:tr h="384048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B1B1F"/>
                          </a:solidFill>
                        </a:rPr>
                        <a:t>A · Ship 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B1B1F"/>
                          </a:solidFill>
                        </a:rPr>
                        <a:t>Can a stranger run it?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B1B1F"/>
                          </a:solidFill>
                        </a:rPr>
                        <a:t>B · Own it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B1B1F"/>
                          </a:solidFill>
                        </a:rPr>
                        <a:t>Can it run with the cable pulled?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B1B1F"/>
                          </a:solidFill>
                        </a:rPr>
                        <a:t>C · Let it 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B1B1F"/>
                          </a:solidFill>
                        </a:rPr>
                        <a:t>Can it act safely, provably?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B1B1F"/>
                          </a:solidFill>
                        </a:rPr>
                        <a:t>D · Deliver it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B1B1F"/>
                          </a:solidFill>
                        </a:rPr>
                        <a:t>Can you hand it to a client?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How the labs evolve: the scaffolding comes 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2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Arc A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Arc B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Arc C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Arc D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B1F"/>
                          </a:solidFill>
                        </a:rPr>
                        <a:t>most is provided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B1F"/>
                          </a:solidFill>
                        </a:rPr>
                        <a:t>a harness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B1F"/>
                          </a:solidFill>
                        </a:rPr>
                        <a:t>a skeleton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B1F"/>
                          </a:solidFill>
                        </a:rPr>
                        <a:t>a starter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B1F"/>
                          </a:solidFill>
                        </a:rPr>
                        <a:t>starter code, tests given then yours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B1F"/>
                          </a:solidFill>
                        </a:rPr>
                        <a:t>a stack to seal and break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B1F"/>
                          </a:solidFill>
                        </a:rPr>
                        <a:t>a server and loop with TODOs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B1F"/>
                          </a:solidFill>
                        </a:rPr>
                        <a:t>your repo, your tests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C6370"/>
                </a:solidFill>
                <a:latin typeface="Calibri"/>
              </a:rPr>
              <a:t>Coding agents: by hand (Labs 8–9) → taught (10) → allowed, and you defend every line (11 on).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000" b="1">
                <a:solidFill>
                  <a:srgbClr val="C9D1DB"/>
                </a:solidFill>
                <a:latin typeface="Calibr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142A4A"/>
                </a:solidFill>
                <a:latin typeface="Calibri"/>
              </a:rPr>
              <a:t>Ship 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42A4A"/>
                </a:solidFill>
                <a:latin typeface="Calibri"/>
              </a:rPr>
              <a:t>Week 1</a:t>
            </a:r>
          </a:p>
        </p:txBody>
      </p:sp>
      <p:pic>
        <p:nvPicPr>
          <p:cNvPr id="3" name="Picture 2" descr="lab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60120"/>
            <a:ext cx="10326187" cy="2834640"/>
          </a:xfrm>
          <a:prstGeom prst="rect">
            <a:avLst/>
          </a:prstGeom>
        </p:spPr>
      </p:pic>
      <p:pic>
        <p:nvPicPr>
          <p:cNvPr id="4" name="Picture 3" descr="lab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04488"/>
            <a:ext cx="10326187" cy="2834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42A4A"/>
                </a:solidFill>
                <a:latin typeface="Calibri"/>
              </a:rPr>
              <a:t>Week 2</a:t>
            </a:r>
          </a:p>
        </p:txBody>
      </p:sp>
      <p:pic>
        <p:nvPicPr>
          <p:cNvPr id="3" name="Picture 2" descr="lab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60120"/>
            <a:ext cx="10326187" cy="2834640"/>
          </a:xfrm>
          <a:prstGeom prst="rect">
            <a:avLst/>
          </a:prstGeom>
        </p:spPr>
      </p:pic>
      <p:pic>
        <p:nvPicPr>
          <p:cNvPr id="4" name="Picture 3" descr="lab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04488"/>
            <a:ext cx="10326187" cy="2834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42A4A"/>
                </a:solidFill>
                <a:latin typeface="Calibri"/>
              </a:rPr>
              <a:t>Week 3</a:t>
            </a:r>
          </a:p>
        </p:txBody>
      </p:sp>
      <p:pic>
        <p:nvPicPr>
          <p:cNvPr id="3" name="Picture 2" descr="lab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60120"/>
            <a:ext cx="10326187" cy="2834640"/>
          </a:xfrm>
          <a:prstGeom prst="rect">
            <a:avLst/>
          </a:prstGeom>
        </p:spPr>
      </p:pic>
      <p:pic>
        <p:nvPicPr>
          <p:cNvPr id="4" name="Picture 3" descr="lab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04488"/>
            <a:ext cx="10326187" cy="2834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The honest number keeps shrinking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17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9283"/>
                <a:gridCol w="2509283"/>
                <a:gridCol w="2509283"/>
                <a:gridCol w="3262068"/>
              </a:tblGrid>
              <a:tr h="384048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</a:rPr>
                        <a:t>The card implied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</a:rPr>
                        <a:t>Honest, in rupees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</a:rPr>
                        <a:t>Skew fixed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</a:rPr>
                        <a:t>A year live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B1B1F"/>
                          </a:solidFill>
                        </a:rPr>
                        <a:t>~88%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B1B1F"/>
                          </a:solidFill>
                        </a:rP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B1B1F"/>
                          </a:solidFill>
                        </a:rPr>
                        <a:t>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B1B1F"/>
                          </a:solidFill>
                        </a:rPr>
                        <a:t>off (≈ ₹575 vs ₹500)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C6370"/>
                </a:solidFill>
                <a:latin typeface="Calibri"/>
              </a:rPr>
              <a:t>Found in a lab: a week. Found in production: real money. Honest negative results score full marks.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000" b="1">
                <a:solidFill>
                  <a:srgbClr val="C9D1DB"/>
                </a:solidFill>
                <a:latin typeface="Calibri"/>
              </a:rP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142A4A"/>
                </a:solidFill>
                <a:latin typeface="Calibri"/>
              </a:rPr>
              <a:t>Own 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42A4A"/>
                </a:solidFill>
                <a:latin typeface="Calibri"/>
              </a:rPr>
              <a:t>Week 4</a:t>
            </a:r>
          </a:p>
        </p:txBody>
      </p:sp>
      <p:pic>
        <p:nvPicPr>
          <p:cNvPr id="3" name="Picture 2" descr="lab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60120"/>
            <a:ext cx="10326187" cy="2834640"/>
          </a:xfrm>
          <a:prstGeom prst="rect">
            <a:avLst/>
          </a:prstGeom>
        </p:spPr>
      </p:pic>
      <p:pic>
        <p:nvPicPr>
          <p:cNvPr id="4" name="Picture 3" descr="lab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04488"/>
            <a:ext cx="10326187" cy="2834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000" b="1">
                <a:solidFill>
                  <a:srgbClr val="C9D1DB"/>
                </a:solidFill>
                <a:latin typeface="Calibri"/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142A4A"/>
                </a:solidFill>
                <a:latin typeface="Calibri"/>
              </a:rPr>
              <a:t>Let it act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42A4A"/>
                </a:solidFill>
                <a:latin typeface="Calibri"/>
              </a:rPr>
              <a:t>Week 5</a:t>
            </a:r>
          </a:p>
        </p:txBody>
      </p:sp>
      <p:pic>
        <p:nvPicPr>
          <p:cNvPr id="3" name="Picture 2" descr="lab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60120"/>
            <a:ext cx="10326187" cy="2834640"/>
          </a:xfrm>
          <a:prstGeom prst="rect">
            <a:avLst/>
          </a:prstGeom>
        </p:spPr>
      </p:pic>
      <p:pic>
        <p:nvPicPr>
          <p:cNvPr id="4" name="Picture 3" descr="lab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04488"/>
            <a:ext cx="10326187" cy="2834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42A4A"/>
                </a:solidFill>
                <a:latin typeface="Calibri"/>
              </a:rPr>
              <a:t>Week 6</a:t>
            </a:r>
          </a:p>
        </p:txBody>
      </p:sp>
      <p:pic>
        <p:nvPicPr>
          <p:cNvPr id="3" name="Picture 2" descr="lab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60120"/>
            <a:ext cx="10789920" cy="29619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6126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C6370"/>
                </a:solidFill>
                <a:latin typeface="Calibri"/>
              </a:rPr>
              <a:t>Defend the action, not the prompt.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000" b="1">
                <a:solidFill>
                  <a:srgbClr val="C9D1DB"/>
                </a:solidFill>
                <a:latin typeface="Calibri"/>
              </a:rPr>
              <a:t>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142A4A"/>
                </a:solidFill>
                <a:latin typeface="Calibri"/>
              </a:rPr>
              <a:t>Deliver it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42A4A"/>
                </a:solidFill>
                <a:latin typeface="Calibri"/>
              </a:rPr>
              <a:t>Weeks 6–7</a:t>
            </a:r>
          </a:p>
        </p:txBody>
      </p:sp>
      <p:pic>
        <p:nvPicPr>
          <p:cNvPr id="3" name="Picture 2" descr="lab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60120"/>
            <a:ext cx="10326187" cy="2834640"/>
          </a:xfrm>
          <a:prstGeom prst="rect">
            <a:avLst/>
          </a:prstGeom>
        </p:spPr>
      </p:pic>
      <p:pic>
        <p:nvPicPr>
          <p:cNvPr id="4" name="Picture 3" descr="lab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04488"/>
            <a:ext cx="10326187" cy="2834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42A4A"/>
                </a:solidFill>
                <a:latin typeface="Calibri"/>
              </a:rPr>
              <a:t>Week 8</a:t>
            </a:r>
          </a:p>
        </p:txBody>
      </p:sp>
      <p:pic>
        <p:nvPicPr>
          <p:cNvPr id="3" name="Picture 2" descr="lab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60120"/>
            <a:ext cx="10789920" cy="29619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6126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C6370"/>
                </a:solidFill>
                <a:latin typeface="Calibri"/>
              </a:rPr>
              <a:t>Graded on Demo Day: what you would not deploy this for.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920240"/>
            <a:ext cx="109728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37744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January again. Your second time.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Every expectation, already rehearsed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2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B1F"/>
                          </a:solidFill>
                        </a:rPr>
                        <a:t>Signed scope · Lab 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B1F"/>
                          </a:solidFill>
                        </a:rPr>
                        <a:t>Working slice · Lab 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B1F"/>
                          </a:solidFill>
                        </a:rPr>
                        <a:t>Numbers · every lab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B1F"/>
                          </a:solidFill>
                        </a:rPr>
                        <a:t>Data rules · Lab 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B1F"/>
                          </a:solidFill>
                        </a:rPr>
                        <a:t>Bad news early · Lab 13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B1F"/>
                          </a:solidFill>
                        </a:rPr>
                        <a:t>Runs after you leave · Labs 8, 12, 21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B1F"/>
                          </a:solidFill>
                        </a:rPr>
                        <a:t>What it must not do · Lab 21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B1F"/>
                          </a:solidFill>
                        </a:rPr>
                        <a:t>January, rehearsed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What changes in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394960"/>
              </a:tblGrid>
              <a:tr h="38404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Week 0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Week 8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B1B1F"/>
                          </a:solidFill>
                        </a:rPr>
                        <a:t>"It works on my laptop"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B1B1F"/>
                          </a:solidFill>
                        </a:rPr>
                        <a:t>A clean clone agrees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B1B1F"/>
                          </a:solidFill>
                        </a:rPr>
                        <a:t>"Accuracy is high"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B1B1F"/>
                          </a:solidFill>
                        </a:rPr>
                        <a:t>It saves this many rupees, or not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B1B1F"/>
                          </a:solidFill>
                        </a:rPr>
                        <a:t>"The agent did it"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B1B1F"/>
                          </a:solidFill>
                        </a:rPr>
                        <a:t>The ledger shows what it did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B1B1F"/>
                          </a:solidFill>
                        </a:rPr>
                        <a:t>"It's local, so it's safe"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B1B1F"/>
                          </a:solidFill>
                        </a:rPr>
                        <a:t>The egress log shows nothing left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The habits that travel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2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38404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No number, no claim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Somebody else can run 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Watch it fail first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Evidence, not summaries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Rupees, not accuracy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Rules in code, humans at the gate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Every week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20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38404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Before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20-min briefing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3-hour lab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After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1B1F"/>
                          </a:solidFill>
                        </a:rPr>
                        <a:t>primer · setup · notes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1B1F"/>
                          </a:solidFill>
                        </a:rPr>
                        <a:t>data · code · assignment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1B1F"/>
                          </a:solidFill>
                        </a:rPr>
                        <a:t>team of three · RUNSHEET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1B1F"/>
                          </a:solidFill>
                        </a:rPr>
                        <a:t>quiz · tagged commit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C6370"/>
                </a:solidFill>
                <a:latin typeface="Calibri"/>
              </a:rPr>
              <a:t>Labs 8–18 44% · scoping 6% · system 20% · report and Demo Day 20% · practice 10%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This week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20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2157984"/>
                <a:gridCol w="2157984"/>
                <a:gridCol w="2157984"/>
                <a:gridCol w="2157984"/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1B1F"/>
                          </a:solidFill>
                        </a:rPr>
                        <a:t>Read the story (docs/THE_STORY.md)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1B1F"/>
                          </a:solidFill>
                        </a:rPr>
                        <a:t>make up, make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1B1F"/>
                          </a:solidFill>
                        </a:rPr>
                        <a:t>Three primers: git · shell · DVC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1B1F"/>
                          </a:solidFill>
                        </a:rPr>
                        <a:t>Team repo, three laptops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1B1F"/>
                          </a:solidFill>
                        </a:rPr>
                        <a:t>One question for the Lab 8 briefing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920240"/>
            <a:ext cx="109728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37744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In eight weeks, the unknowns on that map are habits.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5778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9EB4D4"/>
                </a:solidFill>
                <a:latin typeface="Calibri"/>
              </a:rPr>
              <a:t>So January is your second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